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5CF6"/>
    <a:srgbClr val="F4821E"/>
    <a:srgbClr val="0A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45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A56D-AB44-57BD-EAE8-F4C184F6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79534-0854-D61E-B7FC-A1704D454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AB797-A40A-E741-996D-694465395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DAEE9-B9A6-5EA8-89D2-BED7234FA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09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A782-4770-7FC9-97AC-32D15C9D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CB49A-FD86-36BA-AA8C-8DDE5A1D4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70247-83F3-93DF-EB68-E7A37B2B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DF066-DB1A-CD11-1775-942178F31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20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22000">
                <a:schemeClr val="accent1">
                  <a:lumMod val="95000"/>
                  <a:lumOff val="5000"/>
                </a:schemeClr>
              </a:gs>
              <a:gs pos="45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1201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8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</a:t>
            </a:r>
            <a:endParaRPr lang="en-US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BUS-VERSE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&amp; Discrete-Event Simulation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Radhanagari ST Depot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3200400" cy="36576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Transit Failures Through Behavioral Modeling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A8B8B">
              <a:alpha val="20000"/>
            </a:srgbClr>
          </a:solidFill>
          <a:ln w="12700">
            <a:solidFill>
              <a:srgbClr val="0A8B8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286000"/>
            <a:ext cx="1645920" cy="1645920"/>
          </a:xfrm>
          <a:prstGeom prst="ellipse">
            <a:avLst/>
          </a:prstGeom>
          <a:solidFill>
            <a:srgbClr val="F4821E">
              <a:alpha val="15000"/>
            </a:srgbClr>
          </a:solidFill>
          <a:ln w="12700">
            <a:solidFill>
              <a:srgbClr val="F4821E">
                <a:alpha val="30000"/>
              </a:srgbClr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D0FA9A-962C-B21A-7D15-CCECFA943B16}"/>
              </a:ext>
            </a:extLst>
          </p:cNvPr>
          <p:cNvSpPr txBox="1"/>
          <p:nvPr/>
        </p:nvSpPr>
        <p:spPr>
          <a:xfrm>
            <a:off x="594360" y="3663618"/>
            <a:ext cx="4287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Rupesh Hemant Bhusare, 2203106</a:t>
            </a:r>
          </a:p>
          <a:p>
            <a:r>
              <a:rPr lang="en-US" i="1" dirty="0">
                <a:solidFill>
                  <a:schemeClr val="bg1">
                    <a:lumMod val="85000"/>
                  </a:schemeClr>
                </a:solidFill>
              </a:rPr>
              <a:t>CS572: Modeling and Simulation of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8B8B"/>
          </a:solidFill>
          <a:ln w="12700">
            <a:solidFill>
              <a:srgbClr val="0A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build?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64008"/>
          </a:xfrm>
          <a:prstGeom prst="rect">
            <a:avLst/>
          </a:prstGeom>
          <a:solidFill>
            <a:srgbClr val="0A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simulation that clones the real Radhanagari ST Depot  buses, timetables, passengers, all of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9748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2697480" cy="64008"/>
          </a:xfrm>
          <a:prstGeom prst="rect">
            <a:avLst/>
          </a:prstGeom>
          <a:solidFill>
            <a:srgbClr val="F482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63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578608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aren't robots. They panic, arrive early, and reroute if their bus is full. Our model captures that.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9748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25880"/>
            <a:ext cx="26974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578608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full-day simulations run back-to-back. Results stabilize via Central Limit Theorem — solid, not lucky.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32448" y="4155948"/>
            <a:ext cx="6956475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605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SimPy · Discrete-Event Simulation · 12-hour Operational Window (6 AM – 6 PM)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 stats hide violent demand spikes. A spreadsheet says the depot is fine. Reality: 760 people stranded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334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80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Radhanagari is a real place. The chaos at the depot — the morning mob, the ghost buses, the evening panic — all of it is observable.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307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stress-test the depot virtually before anyone gets hurt or money gets wasted? That question led to the Digital Twin.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6400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spreadsheet cannot calculate the friction of 200 people needing a bus at 5 PM when the only capacity is bound for another state."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2606040"/>
            <a:ext cx="2834640" cy="27432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5897880" y="3566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boarding success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core finding that started it 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simulation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011680" cy="27660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011680" cy="54864"/>
          </a:xfrm>
          <a:prstGeom prst="rect">
            <a:avLst/>
          </a:prstGeom>
          <a:solidFill>
            <a:srgbClr val="0A8B8B"/>
          </a:solidFill>
          <a:ln w="12700">
            <a:solidFill>
              <a:srgbClr val="0A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984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" y="192938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Generation</a:t>
            </a:r>
            <a:endParaRPr lang="en-US" sz="1300" dirty="0">
              <a:solidFill>
                <a:srgbClr val="0A8B8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" y="248716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Non-homogeneous arrivals λ(t). Morning rush: 2.0 groups/min. Evening rush: 1.6. Midday: 0.5.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40280" y="2697480"/>
            <a:ext cx="201168" cy="2743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1448" y="1188720"/>
            <a:ext cx="2011680" cy="27660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1188720"/>
            <a:ext cx="2011680" cy="54864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2984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51176" y="192938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Commuter AI</a:t>
            </a:r>
            <a:endParaRPr lang="en-US" sz="1300" dirty="0">
              <a:solidFill>
                <a:srgbClr val="F4821E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51176" y="248716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Step-step routing: if direct bus is full, passenger reroutes via transfer hub. Urgency score drives behavior.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53128" y="2697480"/>
            <a:ext cx="201168" cy="2743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4296" y="1188720"/>
            <a:ext cx="2011680" cy="27660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188720"/>
            <a:ext cx="201168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2984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64024" y="192938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Departure Logic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64024" y="248716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buses start at 0 load. Through buses carry 15–35 passengers. Hard cap: 60 passengers per bus.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65976" y="2697480"/>
            <a:ext cx="201168" cy="27432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67144" y="1188720"/>
            <a:ext cx="2011680" cy="27660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1188720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12984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76872" y="1930087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Math</a:t>
            </a:r>
            <a:endParaRPr lang="en-US" sz="1300" dirty="0">
              <a:solidFill>
                <a:srgbClr val="8B5CF6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76872" y="2487168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= Qt-1 + Arrivals − Boardings − Abandoned. Station backlog tracked minute-by-minute for 720 steps.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254486" y="4256180"/>
            <a:ext cx="6799619" cy="342900"/>
          </a:xfrm>
          <a:prstGeom prst="rect">
            <a:avLst/>
          </a:prstGeom>
          <a:solidFill>
            <a:srgbClr val="0A8B8B"/>
          </a:solidFill>
          <a:ln w="12700">
            <a:solidFill>
              <a:srgbClr val="0A8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8806" y="4283612"/>
            <a:ext cx="6391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 Monte Carlo runs · Central Limit Theorem convergence · Converged mean wait: 39.32 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BF5D1-5FDC-8DF7-3CF9-6CDF4E6F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1110CA9-D471-ABCC-FF26-A2071F3794B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66BF22-EC92-ED8F-9513-944C97D931E2}"/>
              </a:ext>
            </a:extLst>
          </p:cNvPr>
          <p:cNvSpPr txBox="1"/>
          <p:nvPr/>
        </p:nvSpPr>
        <p:spPr>
          <a:xfrm>
            <a:off x="3331917" y="1971585"/>
            <a:ext cx="24801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bg1">
                    <a:lumMod val="85000"/>
                  </a:schemeClr>
                </a:solidFill>
              </a:rPr>
              <a:t>Demo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0F90D87-9679-8F9A-8938-FDE8328B8CFB}"/>
              </a:ext>
            </a:extLst>
          </p:cNvPr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A8B8B">
              <a:alpha val="20000"/>
            </a:srgbClr>
          </a:solidFill>
          <a:ln w="12700">
            <a:solidFill>
              <a:srgbClr val="0A8B8B">
                <a:alpha val="40000"/>
              </a:srgbClr>
            </a:solidFill>
            <a:prstDash val="solid"/>
          </a:ln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806E69A-C043-011A-1023-30B0E7C1D14E}"/>
              </a:ext>
            </a:extLst>
          </p:cNvPr>
          <p:cNvSpPr/>
          <p:nvPr/>
        </p:nvSpPr>
        <p:spPr>
          <a:xfrm>
            <a:off x="7498080" y="2286000"/>
            <a:ext cx="1645920" cy="1645920"/>
          </a:xfrm>
          <a:prstGeom prst="ellipse">
            <a:avLst/>
          </a:prstGeom>
          <a:solidFill>
            <a:srgbClr val="F4821E">
              <a:alpha val="15000"/>
            </a:srgbClr>
          </a:solidFill>
          <a:ln w="12700">
            <a:solidFill>
              <a:srgbClr val="F4821E">
                <a:alpha val="30000"/>
              </a:srgbClr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939EAE32-0786-5AAD-C3A4-FFDC3AD4CF6B}"/>
              </a:ext>
            </a:extLst>
          </p:cNvPr>
          <p:cNvSpPr/>
          <p:nvPr/>
        </p:nvSpPr>
        <p:spPr>
          <a:xfrm>
            <a:off x="-688848" y="3718560"/>
            <a:ext cx="2286000" cy="2286000"/>
          </a:xfrm>
          <a:prstGeom prst="ellipse">
            <a:avLst/>
          </a:prstGeom>
          <a:solidFill>
            <a:srgbClr val="0A8B8B">
              <a:alpha val="20000"/>
            </a:srgbClr>
          </a:solidFill>
          <a:ln w="12700">
            <a:solidFill>
              <a:srgbClr val="0A8B8B">
                <a:alpha val="40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117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2060-4AE6-77C3-165F-D8896973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9B482F3-1685-D5D5-6BC7-A0F1A3312D94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2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6D20F5-111E-5065-0D2C-A85127AF2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90182" y="1005840"/>
            <a:ext cx="6363636" cy="3680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387C9E62-6582-C812-A4D6-833409F32188}"/>
              </a:ext>
            </a:extLst>
          </p:cNvPr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119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Space mismatch</a:t>
            </a:r>
            <a:endParaRPr lang="en-US" sz="2800" dirty="0"/>
          </a:p>
        </p:txBody>
      </p:sp>
      <p:pic>
        <p:nvPicPr>
          <p:cNvPr id="5" name="Image 0" descr="/home/claude/01_Tidal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5029200" cy="2286000"/>
          </a:xfrm>
          <a:prstGeom prst="rect">
            <a:avLst/>
          </a:prstGeom>
        </p:spPr>
      </p:pic>
      <p:pic>
        <p:nvPicPr>
          <p:cNvPr id="6" name="Image 1" descr="/home/claude/05_Bottlene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474720"/>
            <a:ext cx="5029200" cy="1417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77840" y="1097280"/>
            <a:ext cx="3291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577840" y="1097280"/>
            <a:ext cx="64008" cy="1143000"/>
          </a:xfrm>
          <a:prstGeom prst="rect">
            <a:avLst/>
          </a:prstGeom>
          <a:solidFill>
            <a:srgbClr val="0A8B8B"/>
          </a:solidFill>
          <a:ln w="12700">
            <a:solidFill>
              <a:srgbClr val="0A8B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42432" y="118872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742432" y="171907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passengers arrive in rush hour vs midday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77840" y="2395728"/>
            <a:ext cx="3291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77840" y="2395728"/>
            <a:ext cx="64008" cy="11430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42432" y="248716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185+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742432" y="301752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trapped at peak morning backlog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577840" y="3694176"/>
            <a:ext cx="3291840" cy="1143000"/>
          </a:xfrm>
          <a:prstGeom prst="rect">
            <a:avLst/>
          </a:prstGeom>
          <a:solidFill>
            <a:schemeClr val="bg1"/>
          </a:solidFill>
          <a:ln w="63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577840" y="3694176"/>
            <a:ext cx="64008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42432" y="378561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760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742432" y="431596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stranded daily on average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buses &amp; route collapse</a:t>
            </a:r>
            <a:endParaRPr lang="en-US" sz="2800" dirty="0"/>
          </a:p>
        </p:txBody>
      </p:sp>
      <p:pic>
        <p:nvPicPr>
          <p:cNvPr id="5" name="Image 0" descr="/home/claude/04_Route_Efficienc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732473" cy="2059502"/>
          </a:xfrm>
          <a:prstGeom prst="rect">
            <a:avLst/>
          </a:prstGeom>
        </p:spPr>
      </p:pic>
      <p:pic>
        <p:nvPicPr>
          <p:cNvPr id="6" name="Image 1" descr="/home/claude/07_Occupancy_Tim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98233" y="621792"/>
            <a:ext cx="3860489" cy="40645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1" y="3260274"/>
            <a:ext cx="2447398" cy="855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65760" y="3229172"/>
            <a:ext cx="397251" cy="349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🚌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914401" y="3363518"/>
            <a:ext cx="948758" cy="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Buses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1" y="3631508"/>
            <a:ext cx="2447398" cy="45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Panjim Express departed at 8:45 AM with 0 passengers. Latur Express runs at 23% capacity.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93150" y="3260274"/>
            <a:ext cx="2174695" cy="88316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906821" y="3211326"/>
            <a:ext cx="314758" cy="376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303520" y="3324972"/>
            <a:ext cx="1688250" cy="239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Collapse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64685" y="3621706"/>
            <a:ext cx="2031623" cy="431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Nipani Local &amp; Kolhapur Express hit 60-passenger limit during both rush windows.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388780" y="4292652"/>
            <a:ext cx="2894428" cy="732899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528816" y="4273441"/>
            <a:ext cx="418930" cy="30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019177" y="4322766"/>
            <a:ext cx="2246990" cy="19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Gaps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554818" y="4547210"/>
            <a:ext cx="2704005" cy="399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Mudaltitta-Gargoti: zero evening departures. Ichalkaranji: zero morning departures.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hard. What we learned.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749040" cy="3474720"/>
          </a:xfrm>
          <a:prstGeom prst="rect">
            <a:avLst/>
          </a:prstGeom>
          <a:solidFill>
            <a:srgbClr val="1B2A3B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irrational human behavior (paranoia buffers, mob boarding) without making it too random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queue math right — distinguishing "in system" vs "actively waiting"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649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arrival rates from zero ground-truth data; had to use sociological reasoning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7822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convergence took trial-and-error to find N=30 as the sweet spot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325880"/>
            <a:ext cx="4343400" cy="3474720"/>
          </a:xfrm>
          <a:prstGeom prst="rect">
            <a:avLst/>
          </a:prstGeom>
          <a:solidFill>
            <a:srgbClr val="1B2A3B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417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Takeaways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19385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lie. Spatiotemporal mismatch is the real enemy, not fleet shortage.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436876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reallocation beats fleet expansion — move ghost bus drivers to rush-hour routes.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980944"/>
            <a:ext cx="3977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schedule gaps first: Mudaltitta evening + Ichalkaranji morning can be solved in one memo.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497580"/>
            <a:ext cx="3977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gives you a risk-free sandbox to test ideas before any bus moves.</a:t>
            </a:r>
            <a:endParaRPr lang="en-US" sz="1200" dirty="0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3A9A6EC9-4A6A-AB04-D6F5-969808F44C78}"/>
              </a:ext>
            </a:extLst>
          </p:cNvPr>
          <p:cNvSpPr/>
          <p:nvPr/>
        </p:nvSpPr>
        <p:spPr>
          <a:xfrm>
            <a:off x="4617720" y="4014216"/>
            <a:ext cx="3977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0A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gives enough data for business owners around bus station to target customers with better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30552"/>
            <a:ext cx="9144000" cy="3012948"/>
          </a:xfrm>
          <a:prstGeom prst="rect">
            <a:avLst/>
          </a:prstGeom>
          <a:solidFill>
            <a:srgbClr val="0A8B8B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 system doesn't need more buses.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buses at the right place, at the right time.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4672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SimPy · Monte Carlo · Queueing Theory · Behavioral Modeling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3697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Bus-Verse: Radhanagari ST Depot Digital Twin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693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 Emoji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Into the Bus-Verse</dc:title>
  <dc:subject>PptxGenJS Presentation</dc:subject>
  <dc:creator>PptxGenJS</dc:creator>
  <cp:lastModifiedBy>Rupesh Bhusare</cp:lastModifiedBy>
  <cp:revision>8</cp:revision>
  <dcterms:created xsi:type="dcterms:W3CDTF">2026-04-26T07:09:38Z</dcterms:created>
  <dcterms:modified xsi:type="dcterms:W3CDTF">2026-04-27T14:08:06Z</dcterms:modified>
</cp:coreProperties>
</file>